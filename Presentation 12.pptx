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5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70" r:id="rId11"/>
    <p:sldId id="267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3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D:\SECOND%20YEAR\First%20Term\&#1575;&#1583;&#1575;&#1585;&#1607;%20&#1605;&#1588;&#1585;&#1608;&#1593;&#1575;&#1578;\Sections\time%20phased%20budge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720953630796151"/>
          <c:y val="7.4548702245552628E-2"/>
          <c:w val="0.71605271216097988"/>
          <c:h val="0.8326195683872849"/>
        </c:manualLayout>
      </c:layout>
      <c:lineChart>
        <c:grouping val="standard"/>
        <c:varyColors val="0"/>
        <c:ser>
          <c:idx val="0"/>
          <c:order val="0"/>
          <c:marker>
            <c:symbol val="none"/>
          </c:marker>
          <c:val>
            <c:numRef>
              <c:f>Sheet1!$E$12:$W$12</c:f>
              <c:numCache>
                <c:formatCode>General</c:formatCode>
                <c:ptCount val="19"/>
                <c:pt idx="0">
                  <c:v>5</c:v>
                </c:pt>
                <c:pt idx="1">
                  <c:v>11</c:v>
                </c:pt>
                <c:pt idx="2">
                  <c:v>16</c:v>
                </c:pt>
                <c:pt idx="3">
                  <c:v>20</c:v>
                </c:pt>
                <c:pt idx="4">
                  <c:v>25</c:v>
                </c:pt>
                <c:pt idx="5">
                  <c:v>30</c:v>
                </c:pt>
                <c:pt idx="6">
                  <c:v>35</c:v>
                </c:pt>
                <c:pt idx="7">
                  <c:v>41</c:v>
                </c:pt>
                <c:pt idx="8">
                  <c:v>47</c:v>
                </c:pt>
                <c:pt idx="9">
                  <c:v>52</c:v>
                </c:pt>
                <c:pt idx="10">
                  <c:v>55</c:v>
                </c:pt>
                <c:pt idx="11">
                  <c:v>57</c:v>
                </c:pt>
                <c:pt idx="12">
                  <c:v>62</c:v>
                </c:pt>
                <c:pt idx="13">
                  <c:v>67</c:v>
                </c:pt>
                <c:pt idx="14">
                  <c:v>72</c:v>
                </c:pt>
                <c:pt idx="15">
                  <c:v>77</c:v>
                </c:pt>
                <c:pt idx="16">
                  <c:v>80</c:v>
                </c:pt>
                <c:pt idx="17">
                  <c:v>83</c:v>
                </c:pt>
                <c:pt idx="18">
                  <c:v>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C2-4A0B-A04C-B73EA61A3C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23727360"/>
        <c:axId val="323728896"/>
      </c:lineChart>
      <c:catAx>
        <c:axId val="323727360"/>
        <c:scaling>
          <c:orientation val="minMax"/>
        </c:scaling>
        <c:delete val="0"/>
        <c:axPos val="b"/>
        <c:majorTickMark val="out"/>
        <c:minorTickMark val="none"/>
        <c:tickLblPos val="nextTo"/>
        <c:crossAx val="323728896"/>
        <c:crosses val="autoZero"/>
        <c:auto val="1"/>
        <c:lblAlgn val="ctr"/>
        <c:lblOffset val="100"/>
        <c:noMultiLvlLbl val="0"/>
      </c:catAx>
      <c:valAx>
        <c:axId val="32372889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23727360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A061D3F0-1853-4A12-8D5C-7DE263FBB988}" type="datetimeFigureOut">
              <a:rPr lang="ar-SA" smtClean="0"/>
              <a:t>29/05/1443</a:t>
            </a:fld>
            <a:endParaRPr lang="ar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E42C8EB3-4838-4C1E-9C5E-7D66CE68C83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0961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2C8EB3-4838-4C1E-9C5E-7D66CE68C83E}" type="slidenum">
              <a:rPr lang="ar-SA" smtClean="0"/>
              <a:t>7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94648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894DAA0D-82BB-45B2-A4E0-9BFF5C27A2ED}" type="datetimeFigureOut">
              <a:rPr lang="ar-SA" smtClean="0"/>
              <a:t>29/05/1443</a:t>
            </a:fld>
            <a:endParaRPr lang="ar-SA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3F7CF7C-ABB1-411D-9E13-AAE2248FB67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17164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AA0D-82BB-45B2-A4E0-9BFF5C27A2ED}" type="datetimeFigureOut">
              <a:rPr lang="ar-SA" smtClean="0"/>
              <a:t>29/05/1443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CF7C-ABB1-411D-9E13-AAE2248FB67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392256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94DAA0D-82BB-45B2-A4E0-9BFF5C27A2ED}" type="datetimeFigureOut">
              <a:rPr lang="ar-SA" smtClean="0"/>
              <a:t>29/05/1443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13F7CF7C-ABB1-411D-9E13-AAE2248FB67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379733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AA0D-82BB-45B2-A4E0-9BFF5C27A2ED}" type="datetimeFigureOut">
              <a:rPr lang="ar-SA" smtClean="0"/>
              <a:t>29/05/1443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CF7C-ABB1-411D-9E13-AAE2248FB67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11421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AA0D-82BB-45B2-A4E0-9BFF5C27A2ED}" type="datetimeFigureOut">
              <a:rPr lang="ar-SA" smtClean="0"/>
              <a:t>29/05/1443</a:t>
            </a:fld>
            <a:endParaRPr lang="ar-S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CF7C-ABB1-411D-9E13-AAE2248FB67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57024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AA0D-82BB-45B2-A4E0-9BFF5C27A2ED}" type="datetimeFigureOut">
              <a:rPr lang="ar-SA" smtClean="0"/>
              <a:t>29/05/1443</a:t>
            </a:fld>
            <a:endParaRPr lang="ar-S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CF7C-ABB1-411D-9E13-AAE2248FB67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689582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AA0D-82BB-45B2-A4E0-9BFF5C27A2ED}" type="datetimeFigureOut">
              <a:rPr lang="ar-SA" smtClean="0"/>
              <a:t>29/05/1443</a:t>
            </a:fld>
            <a:endParaRPr lang="ar-S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CF7C-ABB1-411D-9E13-AAE2248FB67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14630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AA0D-82BB-45B2-A4E0-9BFF5C27A2ED}" type="datetimeFigureOut">
              <a:rPr lang="ar-SA" smtClean="0"/>
              <a:t>29/05/1443</a:t>
            </a:fld>
            <a:endParaRPr lang="ar-SA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ar-SA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13F7CF7C-ABB1-411D-9E13-AAE2248FB67C}" type="slidenum">
              <a:rPr lang="ar-SA" smtClean="0"/>
              <a:t>‹#›</a:t>
            </a:fld>
            <a:endParaRPr lang="ar-SA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83755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894DAA0D-82BB-45B2-A4E0-9BFF5C27A2ED}" type="datetimeFigureOut">
              <a:rPr lang="ar-SA" smtClean="0"/>
              <a:t>29/05/1443</a:t>
            </a:fld>
            <a:endParaRPr lang="ar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13F7CF7C-ABB1-411D-9E13-AAE2248FB67C}" type="slidenum">
              <a:rPr lang="ar-SA" smtClean="0"/>
              <a:t>‹#›</a:t>
            </a:fld>
            <a:endParaRPr lang="ar-SA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47174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AA0D-82BB-45B2-A4E0-9BFF5C27A2ED}" type="datetimeFigureOut">
              <a:rPr lang="ar-SA" smtClean="0"/>
              <a:t>29/05/1443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CF7C-ABB1-411D-9E13-AAE2248FB67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43290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DAA0D-82BB-45B2-A4E0-9BFF5C27A2ED}" type="datetimeFigureOut">
              <a:rPr lang="ar-SA" smtClean="0"/>
              <a:t>29/05/1443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7CF7C-ABB1-411D-9E13-AAE2248FB67C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88705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94DAA0D-82BB-45B2-A4E0-9BFF5C27A2ED}" type="datetimeFigureOut">
              <a:rPr lang="ar-SA" smtClean="0"/>
              <a:t>29/05/1443</a:t>
            </a:fld>
            <a:endParaRPr lang="ar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3F7CF7C-ABB1-411D-9E13-AAE2248FB67C}" type="slidenum">
              <a:rPr lang="ar-SA" smtClean="0"/>
              <a:t>‹#›</a:t>
            </a:fld>
            <a:endParaRPr lang="ar-SA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2350866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35" r:id="rId10"/>
    <p:sldLayoutId id="2147484036" r:id="rId11"/>
  </p:sldLayoutIdLst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xStyles>
    <p:titleStyle>
      <a:lvl1pPr algn="l" defTabSz="914400" rtl="1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r" defTabSz="914400" rtl="1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r" defTabSz="914400" rtl="1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r" defTabSz="914400" rtl="1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r" defTabSz="914400" rtl="1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r" defTabSz="914400" rtl="1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r" defTabSz="914400" rtl="1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r" defTabSz="914400" rtl="1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r" defTabSz="914400" rtl="1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r" defTabSz="914400" rtl="1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B5F62-0323-4C5C-BA21-7BF8FBBA89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Bodoni Bd BT" panose="02070803080706020303" pitchFamily="18" charset="0"/>
                <a:ea typeface="Calibri" panose="020F0502020204030204" pitchFamily="34" charset="0"/>
              </a:rPr>
              <a:t>Home</a:t>
            </a:r>
            <a:r>
              <a:rPr lang="en-US" sz="5400" b="1" i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Bodoni Bd BT" panose="02070803080706020303" pitchFamily="18" charset="0"/>
                <a:ea typeface="Calibri" panose="020F0502020204030204" pitchFamily="34" charset="0"/>
              </a:rPr>
              <a:t> </a:t>
            </a:r>
            <a:r>
              <a:rPr lang="en-US" sz="5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Bodoni Bd BT" panose="02070803080706020303" pitchFamily="18" charset="0"/>
                <a:ea typeface="Calibri" panose="020F0502020204030204" pitchFamily="34" charset="0"/>
              </a:rPr>
              <a:t>automation</a:t>
            </a:r>
            <a:endParaRPr lang="ar-SA" sz="5400" b="1" dirty="0">
              <a:solidFill>
                <a:schemeClr val="tx1">
                  <a:lumMod val="75000"/>
                  <a:lumOff val="25000"/>
                </a:schemeClr>
              </a:solidFill>
              <a:latin typeface="Bodoni Bd BT" panose="02070803080706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471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FEC7C-70F4-4EB7-80BE-4964D3A15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Bodoni Bd BT" panose="02070803080706020303" pitchFamily="18" charset="0"/>
              </a:rPr>
              <a:t>Business Case: </a:t>
            </a:r>
            <a:endParaRPr lang="ar-SA" sz="3600" dirty="0">
              <a:solidFill>
                <a:schemeClr val="bg1">
                  <a:lumMod val="50000"/>
                </a:schemeClr>
              </a:solidFill>
              <a:latin typeface="Bodoni Bd BT" panose="02070803080706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F7157-9261-4A9F-8CD2-3381D2CA2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74320" lvl="1" indent="0" algn="l" rtl="0">
              <a:buNone/>
            </a:pPr>
            <a:r>
              <a:rPr lang="en-US" sz="2400" dirty="0">
                <a:latin typeface="Adobe Caslon Pro" panose="0205050205050A020403" pitchFamily="18" charset="0"/>
              </a:rPr>
              <a:t>The aim of this project is to solve different problems that people face in their daily life.</a:t>
            </a:r>
          </a:p>
          <a:p>
            <a:pPr marL="274320" lvl="1" indent="0" algn="l" rtl="0">
              <a:buNone/>
            </a:pPr>
            <a:r>
              <a:rPr lang="en-US" sz="2400" dirty="0">
                <a:latin typeface="Adobe Caslon Pro" panose="0205050205050A020403" pitchFamily="18" charset="0"/>
              </a:rPr>
              <a:t>It is designed to control devices via a smartphone using Wi-Fi as a protocol and a raspberry Pi as a private server.</a:t>
            </a:r>
          </a:p>
          <a:p>
            <a:pPr marL="274320" lvl="1" indent="0" algn="l" rtl="0">
              <a:buNone/>
            </a:pPr>
            <a:r>
              <a:rPr lang="en-US" sz="2400" dirty="0">
                <a:latin typeface="Adobe Caslon Pro" panose="0205050205050A020403" pitchFamily="18" charset="0"/>
              </a:rPr>
              <a:t>All devices and sensors work as gateways to the Internet.</a:t>
            </a:r>
          </a:p>
          <a:p>
            <a:pPr marL="274320" lvl="1" indent="0" algn="l" rtl="0">
              <a:buNone/>
            </a:pPr>
            <a:r>
              <a:rPr lang="en-US" sz="2400" dirty="0">
                <a:latin typeface="Adobe Caslon Pro" panose="0205050205050A020403" pitchFamily="18" charset="0"/>
              </a:rPr>
              <a:t>The server contains the recorded data for future extraction, the app is designed to automatically switch to a state that automatically controls the devices according to sensor readings.</a:t>
            </a:r>
            <a:endParaRPr lang="ar-SA" sz="2400" dirty="0">
              <a:latin typeface="Adobe Caslon Pro" panose="0205050205050A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84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60C3D-F9E7-4BBA-AB1B-916BC1FC3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359" y="642593"/>
            <a:ext cx="10070841" cy="138214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808080"/>
                </a:solidFill>
                <a:effectLst/>
                <a:latin typeface="Bodoni Bd BT" panose="02070803080706020303" pitchFamily="18" charset="0"/>
                <a:ea typeface="Calibri" panose="020F0502020204030204" pitchFamily="34" charset="0"/>
              </a:rPr>
              <a:t>Goal:</a:t>
            </a:r>
            <a:endParaRPr lang="ar-SA" dirty="0">
              <a:latin typeface="Bodoni Bd BT" panose="02070803080706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702AE-D6B8-46CA-8D0B-4A5F26C2E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 rtl="0"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</a:rPr>
              <a:t>provides control of</a:t>
            </a:r>
          </a:p>
          <a:p>
            <a:pPr marL="788670" lvl="1" indent="-514350" algn="l" rtl="0"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</a:rPr>
              <a:t> lighting.</a:t>
            </a:r>
          </a:p>
          <a:p>
            <a:pPr marL="788670" lvl="1" indent="-514350" algn="l" rtl="0"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</a:rPr>
              <a:t>air conditioning. </a:t>
            </a:r>
          </a:p>
          <a:p>
            <a:pPr marL="788670" lvl="1" indent="-514350" algn="l" rtl="0"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</a:rPr>
              <a:t>Screens.</a:t>
            </a:r>
          </a:p>
          <a:p>
            <a:pPr marL="788670" lvl="1" indent="-514350" algn="l" rtl="0"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</a:rPr>
              <a:t>security system remotely.</a:t>
            </a:r>
          </a:p>
          <a:p>
            <a:pPr marL="0" indent="0" algn="l" rtl="0">
              <a:buNone/>
            </a:pPr>
            <a:r>
              <a:rPr lang="en-US" sz="2400" dirty="0">
                <a:solidFill>
                  <a:srgbClr val="00000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</a:rPr>
              <a:t>, without the need to do these things manually.</a:t>
            </a:r>
            <a:endParaRPr lang="ar-SA" sz="2400" dirty="0">
              <a:latin typeface="Adobe Caslon Pro" panose="0205050205050A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417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A299C-FB75-4D9B-A868-41D6E7DCC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808080"/>
                </a:solidFill>
                <a:effectLst/>
                <a:latin typeface="Bodoni Bd BT" panose="0207080308070602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Objectives:</a:t>
            </a:r>
            <a:endParaRPr lang="ar-SA" dirty="0">
              <a:latin typeface="Bodoni Bd BT" panose="02070803080706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E4E24-60F2-442C-95E6-7AE962F0CC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l" rtl="0">
              <a:buNone/>
            </a:pPr>
            <a:r>
              <a:rPr lang="en-US" sz="2400" dirty="0">
                <a:latin typeface="Adobe Caslon Pro" panose="0205050205050A020403" pitchFamily="18" charset="0"/>
              </a:rPr>
              <a:t>Android-controlled Smart Home Automation should be able to control the home appliances wireless effectively and efficiently. </a:t>
            </a:r>
          </a:p>
          <a:p>
            <a:pPr marL="0" indent="0" algn="l" rtl="0">
              <a:buNone/>
            </a:pPr>
            <a:r>
              <a:rPr lang="en-US" sz="2400" dirty="0">
                <a:latin typeface="Adobe Caslon Pro" panose="0205050205050A020403" pitchFamily="18" charset="0"/>
              </a:rPr>
              <a:t>1-Controlling Home Appliances via Application (Switch and Voice Mode)</a:t>
            </a:r>
          </a:p>
          <a:p>
            <a:pPr marL="0" indent="0" algn="l" rtl="0">
              <a:buNone/>
            </a:pPr>
            <a:r>
              <a:rPr lang="en-US" sz="2400" dirty="0">
                <a:latin typeface="Adobe Caslon Pro" panose="0205050205050A020403" pitchFamily="18" charset="0"/>
              </a:rPr>
              <a:t> 2-Secure Connection Channels between Application and Raspberry pi  </a:t>
            </a:r>
          </a:p>
          <a:p>
            <a:pPr marL="0" indent="0" algn="l" rtl="0">
              <a:buNone/>
            </a:pPr>
            <a:r>
              <a:rPr lang="en-US" sz="2400" dirty="0">
                <a:latin typeface="Adobe Caslon Pro" panose="0205050205050A020403" pitchFamily="18" charset="0"/>
              </a:rPr>
              <a:t>3-Controlled by any device capable of Wi-Fi (Android, iOS, PC) </a:t>
            </a:r>
          </a:p>
          <a:p>
            <a:pPr marL="0" indent="0" algn="l" rtl="0">
              <a:buNone/>
            </a:pPr>
            <a:r>
              <a:rPr lang="en-US" sz="2400" dirty="0">
                <a:latin typeface="Adobe Caslon Pro" panose="0205050205050A020403" pitchFamily="18" charset="0"/>
              </a:rPr>
              <a:t>4- It provide the user with a report (daily, weakly, or monthly) of the Consumption of each device to help him to reduce the total consumption</a:t>
            </a:r>
          </a:p>
          <a:p>
            <a:pPr marL="0" indent="0" algn="l" rtl="0">
              <a:buNone/>
            </a:pPr>
            <a:r>
              <a:rPr lang="en-US" sz="2400" dirty="0">
                <a:latin typeface="Adobe Caslon Pro" panose="0205050205050A020403" pitchFamily="18" charset="0"/>
              </a:rPr>
              <a:t>5-It sends a notification to the user if there is a device still turned on for a long time, and the user can allow access to turn it off automatically.</a:t>
            </a:r>
            <a:endParaRPr lang="ar-SA" sz="2400" dirty="0">
              <a:latin typeface="Adobe Caslon Pro" panose="0205050205050A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708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7A42-EB6D-4E77-BD2E-379B3B94A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808080"/>
                </a:solidFill>
                <a:effectLst/>
                <a:latin typeface="Bodoni Bd BT" panose="0207080308070602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Deliverable:</a:t>
            </a:r>
            <a:endParaRPr lang="ar-SA" dirty="0">
              <a:latin typeface="Bodoni Bd BT" panose="02070803080706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FB694-F832-466D-9282-7D275E113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algn="just" rtl="0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  <a:tabLst>
                <a:tab pos="2159635" algn="l"/>
              </a:tabLst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Device: </a:t>
            </a:r>
            <a:r>
              <a:rPr lang="en-US" sz="2400" dirty="0">
                <a:solidFill>
                  <a:srgbClr val="00000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Devices through which the application is able to control lighting, heat and security must be imported.</a:t>
            </a:r>
            <a:endParaRPr lang="en-US" sz="2400" dirty="0">
              <a:effectLst/>
              <a:latin typeface="Adobe Caslon Pro" panose="0205050205050A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 rtl="0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  <a:tabLst>
                <a:tab pos="2159635" algn="l"/>
              </a:tabLst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 Design: </a:t>
            </a:r>
            <a:r>
              <a:rPr lang="en-US" sz="2400" dirty="0">
                <a:solidFill>
                  <a:srgbClr val="00000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The program code through which the devices are controlled will be written.</a:t>
            </a:r>
            <a:endParaRPr lang="en-US" sz="2400" dirty="0">
              <a:effectLst/>
              <a:latin typeface="Adobe Caslon Pro" panose="0205050205050A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 rtl="0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  <a:tabLst>
                <a:tab pos="2159635" algn="l"/>
              </a:tabLst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Coding “developing”: </a:t>
            </a:r>
            <a:r>
              <a:rPr lang="en-US" sz="2400" dirty="0">
                <a:solidFill>
                  <a:srgbClr val="00000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Installing appliances on home appliances that you control.</a:t>
            </a:r>
            <a:endParaRPr lang="en-US" sz="2400" dirty="0">
              <a:effectLst/>
              <a:latin typeface="Adobe Caslon Pro" panose="0205050205050A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 rtl="0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  <a:tabLst>
                <a:tab pos="2159635" algn="l"/>
              </a:tabLst>
            </a:pP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Integration: </a:t>
            </a:r>
            <a:r>
              <a:rPr lang="en-US" sz="2400" dirty="0">
                <a:solidFill>
                  <a:srgbClr val="00000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The hardware and code are integrated to be controlled through the program.</a:t>
            </a:r>
            <a:endParaRPr lang="en-US" sz="2400" dirty="0">
              <a:effectLst/>
              <a:latin typeface="Adobe Caslon Pro" panose="0205050205050A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729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C1D8-34C1-4E28-9CED-275D563E7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solidFill>
                  <a:srgbClr val="808080"/>
                </a:solidFill>
                <a:effectLst/>
                <a:latin typeface="Bodoni Bd BT" panose="0207080308070602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Scope Statement:</a:t>
            </a:r>
            <a:endParaRPr lang="ar-SA" dirty="0">
              <a:latin typeface="Bodoni Bd BT" panose="02070803080706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89F3D-3592-4E38-ACD0-F93DA9E79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sz="2400" dirty="0">
                <a:latin typeface="Adobe Caslon Pro" panose="0205050205050A020403" pitchFamily="18" charset="0"/>
              </a:rPr>
              <a:t>You can turn on or off your appliances in your home through the app. </a:t>
            </a:r>
          </a:p>
          <a:p>
            <a:pPr algn="l" rtl="0"/>
            <a:r>
              <a:rPr lang="en-US" sz="2400" dirty="0">
                <a:latin typeface="Adobe Caslon Pro" panose="0205050205050A020403" pitchFamily="18" charset="0"/>
              </a:rPr>
              <a:t>Home automation is the ability to control your home without effort. </a:t>
            </a:r>
          </a:p>
          <a:p>
            <a:pPr algn="l" rtl="0"/>
            <a:r>
              <a:rPr lang="en-US" sz="2400" dirty="0">
                <a:latin typeface="Adobe Caslon Pro" panose="0205050205050A020403" pitchFamily="18" charset="0"/>
              </a:rPr>
              <a:t>It sends notifications to the user if there is a device still turned on for a long time (like chargers), and the user can allow access to turn it off.</a:t>
            </a:r>
            <a:endParaRPr lang="ar-SA" sz="2400" dirty="0">
              <a:latin typeface="Adobe Caslon Pro" panose="0205050205050A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358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8DE6F-6C8C-4049-857C-05B6753F6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Bodoni Bd BT" panose="02070803080706020303" pitchFamily="18" charset="0"/>
                <a:cs typeface="Arial Rounded MT Bold" panose="020F0704030504030204" charset="0"/>
              </a:rPr>
              <a:t>Risk Management:</a:t>
            </a:r>
            <a:endParaRPr lang="ar-SA" dirty="0">
              <a:solidFill>
                <a:schemeClr val="bg1">
                  <a:lumMod val="50000"/>
                </a:schemeClr>
              </a:solidFill>
              <a:latin typeface="Bodoni Bd BT" panose="02070803080706020303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C5A4B-1C88-4442-B54A-1225C6CED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Adobe Caslon Pro" panose="0205050205050A020403" pitchFamily="18" charset="0"/>
                <a:cs typeface="Arial Rounded MT Bold" panose="020F0704030504030204" charset="0"/>
              </a:rPr>
              <a:t>Risk:</a:t>
            </a:r>
            <a:endParaRPr lang="ar-SA" sz="3200" b="1" dirty="0">
              <a:latin typeface="Adobe Caslon Pro" panose="0205050205050A020403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9958A-D46B-4803-B9F3-8E6AFEA362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 algn="l" rtl="0">
              <a:buFont typeface="+mj-lt"/>
              <a:buAutoNum type="arabicPeriod"/>
            </a:pPr>
            <a:r>
              <a:rPr lang="en-US" sz="2400" dirty="0">
                <a:sym typeface="+mn-ea"/>
              </a:rPr>
              <a:t>A delay in receiving the equipment.</a:t>
            </a:r>
            <a:endParaRPr lang="en-US" sz="2400" dirty="0"/>
          </a:p>
          <a:p>
            <a:pPr marL="457200" indent="-457200" algn="l" rtl="0">
              <a:buFont typeface="+mj-lt"/>
              <a:buAutoNum type="arabicPeriod"/>
            </a:pPr>
            <a:r>
              <a:rPr lang="en-US" sz="2400" dirty="0">
                <a:sym typeface="+mn-ea"/>
              </a:rPr>
              <a:t>High costs of devices.</a:t>
            </a:r>
            <a:endParaRPr lang="en-US" sz="2400" dirty="0"/>
          </a:p>
          <a:p>
            <a:pPr marL="457200" indent="-457200" algn="l" rtl="0">
              <a:buFont typeface="+mj-lt"/>
              <a:buAutoNum type="arabicPeriod"/>
            </a:pPr>
            <a:r>
              <a:rPr lang="en-US" sz="2400" dirty="0">
                <a:sym typeface="+mn-ea"/>
              </a:rPr>
              <a:t>Lack of home automation standards.</a:t>
            </a:r>
            <a:endParaRPr lang="en-US" sz="2400" dirty="0"/>
          </a:p>
          <a:p>
            <a:pPr marL="457200" indent="-457200" algn="l" rtl="0">
              <a:buFont typeface="+mj-lt"/>
              <a:buAutoNum type="arabicPeriod"/>
            </a:pPr>
            <a:r>
              <a:rPr lang="en-US" sz="2400" dirty="0">
                <a:sym typeface="+mn-ea"/>
              </a:rPr>
              <a:t>A shortage in the project budget.</a:t>
            </a:r>
            <a:endParaRPr lang="en-US" sz="2400" dirty="0"/>
          </a:p>
          <a:p>
            <a:pPr marL="457200" indent="-457200" algn="l" rtl="0">
              <a:buFont typeface="+mj-lt"/>
              <a:buAutoNum type="arabicPeriod"/>
            </a:pPr>
            <a:r>
              <a:rPr lang="en-US" sz="2400" dirty="0">
                <a:sym typeface="+mn-ea"/>
              </a:rPr>
              <a:t>Slow communication between devices and applications.</a:t>
            </a:r>
            <a:endParaRPr lang="en-US" sz="2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6A7CAE-815B-4872-882E-215DD68DF5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Adobe Caslon Pro" panose="0205050205050A020403" pitchFamily="18" charset="0"/>
                <a:cs typeface="Arial Rounded MT Bold" panose="020F0704030504030204" charset="0"/>
                <a:sym typeface="+mn-ea"/>
              </a:rPr>
              <a:t>Risk Solving : </a:t>
            </a:r>
            <a:endParaRPr lang="en-US" sz="3200" b="1" dirty="0">
              <a:solidFill>
                <a:schemeClr val="bg1">
                  <a:lumMod val="50000"/>
                </a:schemeClr>
              </a:solidFill>
              <a:latin typeface="Adobe Caslon Pro" panose="0205050205050A020403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D9B587-244E-4961-9FCB-EB00599E504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 algn="l" rtl="0">
              <a:buFont typeface="+mj-lt"/>
              <a:buAutoNum type="arabicPeriod"/>
            </a:pPr>
            <a:r>
              <a:rPr lang="en-US" sz="2400" dirty="0">
                <a:sym typeface="+mn-ea"/>
              </a:rPr>
              <a:t>To avoid delays in receiving the devices, the two parties agree on a specific date for receiving the devices.</a:t>
            </a:r>
            <a:endParaRPr lang="en-US" sz="2400" dirty="0"/>
          </a:p>
          <a:p>
            <a:pPr marL="457200" indent="-457200" algn="l" rtl="0">
              <a:buFont typeface="+mj-lt"/>
              <a:buAutoNum type="arabicPeriod"/>
            </a:pPr>
            <a:r>
              <a:rPr lang="en-US" sz="2400" dirty="0">
                <a:sym typeface="+mn-ea"/>
              </a:rPr>
              <a:t>Increasing customs prices and tools used in the implementation of the project.</a:t>
            </a:r>
            <a:endParaRPr lang="en-US" sz="2400" dirty="0"/>
          </a:p>
          <a:p>
            <a:pPr marL="457200" indent="-457200" algn="l" rtl="0">
              <a:buFont typeface="+mj-lt"/>
              <a:buAutoNum type="arabicPeriod"/>
            </a:pPr>
            <a:r>
              <a:rPr lang="en-US" sz="2400" dirty="0">
                <a:sym typeface="+mn-ea"/>
              </a:rPr>
              <a:t>Checking the necessary standards and quality in the equipment used.</a:t>
            </a:r>
          </a:p>
          <a:p>
            <a:pPr marL="457200" indent="-457200" algn="l" rtl="0">
              <a:buFont typeface="+mj-lt"/>
              <a:buAutoNum type="arabicPeriod"/>
            </a:pPr>
            <a:r>
              <a:rPr lang="en-US" sz="2400" dirty="0"/>
              <a:t>Development from the experience of programmers.</a:t>
            </a:r>
          </a:p>
        </p:txBody>
      </p:sp>
    </p:spTree>
    <p:extLst>
      <p:ext uri="{BB962C8B-B14F-4D97-AF65-F5344CB8AC3E}">
        <p14:creationId xmlns:p14="http://schemas.microsoft.com/office/powerpoint/2010/main" val="982073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  <p:bldP spid="5" grpId="0" build="p"/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42F8B-F8FC-4A87-9865-198F91B20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670585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808080"/>
                </a:solidFill>
                <a:effectLst/>
                <a:latin typeface="Bodoni Bd BT" panose="0207080308070602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Responsibility Matrix:</a:t>
            </a:r>
            <a:endParaRPr lang="ar-SA" dirty="0">
              <a:latin typeface="Bodoni Bd BT" panose="02070803080706020303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B6F566-E7F1-4382-B777-7972A87656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840" y="2022718"/>
            <a:ext cx="7914319" cy="393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642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C400C-2669-44A1-A7A1-9BEF23A4A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808080"/>
                </a:solidFill>
                <a:effectLst/>
                <a:latin typeface="Bodoni Bd BT" panose="0207080308070602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Project Network:</a:t>
            </a:r>
            <a:endParaRPr lang="ar-SA" b="1" dirty="0">
              <a:latin typeface="Bodoni Bd BT" panose="020708030807060203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B41C20-BC63-4919-ACAB-AFCF1B7AA59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608" y="2174034"/>
            <a:ext cx="5259355" cy="3603481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FDA594-7B3A-4108-820F-929CD367216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14194"/>
            <a:ext cx="5525893" cy="360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067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6E43788-FCDC-47D8-9973-5E925E807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Bodoni Bd BT" panose="02070803080706020303" pitchFamily="18" charset="0"/>
              </a:rPr>
              <a:t>Time-Phased Budget</a:t>
            </a:r>
            <a:endParaRPr lang="ar-SA" b="1" dirty="0">
              <a:latin typeface="Bodoni Bd BT" panose="02070803080706020303" pitchFamily="18" charset="0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A47F4B1-1838-47FB-A889-92969BD813D3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017356873"/>
              </p:ext>
            </p:extLst>
          </p:nvPr>
        </p:nvGraphicFramePr>
        <p:xfrm>
          <a:off x="0" y="2103438"/>
          <a:ext cx="10058400" cy="3932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32759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68F37-616D-4D1F-8183-1EB2CE4AE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482" y="821094"/>
            <a:ext cx="10490718" cy="5031066"/>
          </a:xfrm>
        </p:spPr>
        <p:txBody>
          <a:bodyPr>
            <a:normAutofit/>
          </a:bodyPr>
          <a:lstStyle/>
          <a:p>
            <a:pPr algn="just" rtl="0">
              <a:lnSpc>
                <a:spcPct val="110000"/>
              </a:lnSpc>
              <a:spcAft>
                <a:spcPts val="600"/>
              </a:spcAft>
              <a:tabLst>
                <a:tab pos="2159635" algn="l"/>
              </a:tabLst>
            </a:pPr>
            <a:r>
              <a:rPr lang="en-US" sz="2400" b="1" dirty="0">
                <a:solidFill>
                  <a:srgbClr val="80808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Constraints</a:t>
            </a:r>
            <a:r>
              <a:rPr lang="en-US" sz="2400" b="1" i="1" dirty="0">
                <a:solidFill>
                  <a:srgbClr val="80808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en-US" sz="1400" b="1" dirty="0">
              <a:effectLst/>
              <a:latin typeface="Adobe Caslon Pro" panose="0205050205050A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just" rtl="0">
              <a:lnSpc>
                <a:spcPct val="11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2159635" algn="l"/>
              </a:tabLst>
            </a:pPr>
            <a:r>
              <a:rPr lang="en-US" sz="2000" dirty="0">
                <a:solidFill>
                  <a:srgbClr val="00000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Budget: around $500,000.</a:t>
            </a:r>
            <a:endParaRPr lang="en-US" sz="1400" dirty="0">
              <a:effectLst/>
              <a:latin typeface="Adobe Caslon Pro" panose="0205050205050A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lvl="1" indent="-285750" algn="just" rtl="0">
              <a:lnSpc>
                <a:spcPct val="110000"/>
              </a:lnSpc>
              <a:spcAft>
                <a:spcPts val="600"/>
              </a:spcAft>
              <a:buFont typeface="Courier New" panose="02070309020205020404" pitchFamily="49" charset="0"/>
              <a:buChar char="o"/>
              <a:tabLst>
                <a:tab pos="2159635" algn="l"/>
              </a:tabLst>
            </a:pPr>
            <a:r>
              <a:rPr lang="en-US" sz="2000" dirty="0">
                <a:solidFill>
                  <a:srgbClr val="00000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Time: 15 weeks</a:t>
            </a:r>
            <a:r>
              <a:rPr lang="en-US" sz="1400" dirty="0">
                <a:solidFill>
                  <a:srgbClr val="000000"/>
                </a:solidFill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en-US" sz="1400" dirty="0">
              <a:effectLst/>
              <a:latin typeface="Adobe Caslon Pro" panose="0205050205050A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 rtl="0">
              <a:lnSpc>
                <a:spcPct val="110000"/>
              </a:lnSpc>
              <a:spcAft>
                <a:spcPts val="600"/>
              </a:spcAft>
              <a:tabLst>
                <a:tab pos="2159635" algn="l"/>
              </a:tabLst>
            </a:pPr>
            <a:r>
              <a:rPr lang="en-US" sz="2400" b="1" dirty="0">
                <a:solidFill>
                  <a:srgbClr val="80808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Resources:</a:t>
            </a:r>
            <a:endParaRPr lang="en-US" sz="1400" dirty="0">
              <a:effectLst/>
              <a:latin typeface="Adobe Caslon Pro" panose="0205050205050A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 rtl="0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  <a:tabLst>
                <a:tab pos="2159635" algn="l"/>
              </a:tabLst>
            </a:pPr>
            <a:r>
              <a:rPr lang="en-US" sz="2000" dirty="0">
                <a:solidFill>
                  <a:srgbClr val="00000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A-Team of electrical engineers.</a:t>
            </a:r>
            <a:endParaRPr lang="en-US" sz="1400" dirty="0">
              <a:effectLst/>
              <a:latin typeface="Adobe Caslon Pro" panose="0205050205050A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 rtl="0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  <a:tabLst>
                <a:tab pos="2159635" algn="l"/>
              </a:tabLst>
            </a:pPr>
            <a:r>
              <a:rPr lang="en-US" sz="2000" dirty="0">
                <a:solidFill>
                  <a:srgbClr val="00000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A-Team of programmers.</a:t>
            </a:r>
            <a:endParaRPr lang="en-US" sz="1400" dirty="0">
              <a:effectLst/>
              <a:latin typeface="Adobe Caslon Pro" panose="0205050205050A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just" rtl="0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  <a:tabLst>
                <a:tab pos="2159635" algn="l"/>
              </a:tabLst>
            </a:pPr>
            <a:r>
              <a:rPr lang="en-US" sz="2000" dirty="0">
                <a:solidFill>
                  <a:srgbClr val="00000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Devices of the receiver.</a:t>
            </a:r>
            <a:endParaRPr lang="en-US" sz="1400" dirty="0">
              <a:effectLst/>
              <a:latin typeface="Adobe Caslon Pro" panose="0205050205050A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839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5623A-62AD-400D-8007-5A925C1AD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808080"/>
                </a:solidFill>
                <a:effectLst/>
                <a:latin typeface="Bodoni Bd BT" panose="02070803080706020303" pitchFamily="18" charset="0"/>
                <a:ea typeface="Calibri" panose="020F0502020204030204" pitchFamily="34" charset="0"/>
                <a:cs typeface="Arial" panose="020B0604020202020204" pitchFamily="34" charset="0"/>
              </a:rPr>
              <a:t>Team Members:</a:t>
            </a:r>
            <a:endParaRPr lang="ar-SA" dirty="0">
              <a:latin typeface="Bodoni Bd BT" panose="02070803080706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5B60A-006E-429F-A822-57AC4913E3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algn="l" rtl="0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  <a:tabLst>
                <a:tab pos="2159635" algn="l"/>
              </a:tabLst>
            </a:pPr>
            <a:r>
              <a:rPr lang="en-US" sz="2800" dirty="0">
                <a:solidFill>
                  <a:srgbClr val="00000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Mariam Tarek</a:t>
            </a:r>
            <a:endParaRPr lang="en-US" sz="2800" dirty="0">
              <a:effectLst/>
              <a:latin typeface="Adobe Caslon Pro" panose="0205050205050A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  <a:tabLst>
                <a:tab pos="2159635" algn="l"/>
              </a:tabLst>
            </a:pPr>
            <a:r>
              <a:rPr lang="en-US" sz="2800" dirty="0">
                <a:solidFill>
                  <a:srgbClr val="00000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Nourhan Shaban </a:t>
            </a:r>
            <a:endParaRPr lang="en-US" sz="2800" dirty="0">
              <a:effectLst/>
              <a:latin typeface="Adobe Caslon Pro" panose="0205050205050A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  <a:tabLst>
                <a:tab pos="2159635" algn="l"/>
              </a:tabLst>
            </a:pPr>
            <a:r>
              <a:rPr lang="en-US" sz="2800" dirty="0">
                <a:solidFill>
                  <a:srgbClr val="00000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Nada Mamdouh</a:t>
            </a:r>
            <a:endParaRPr lang="en-US" sz="2800" dirty="0">
              <a:effectLst/>
              <a:latin typeface="Adobe Caslon Pro" panose="0205050205050A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  <a:tabLst>
                <a:tab pos="2159635" algn="l"/>
              </a:tabLst>
            </a:pPr>
            <a:r>
              <a:rPr lang="en-US" sz="2800" dirty="0">
                <a:solidFill>
                  <a:srgbClr val="00000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Nada Hassan</a:t>
            </a:r>
            <a:endParaRPr lang="en-US" sz="2800" dirty="0">
              <a:effectLst/>
              <a:latin typeface="Adobe Caslon Pro" panose="0205050205050A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  <a:tabLst>
                <a:tab pos="2159635" algn="l"/>
              </a:tabLst>
            </a:pPr>
            <a:r>
              <a:rPr lang="en-US" sz="2800" dirty="0">
                <a:solidFill>
                  <a:srgbClr val="00000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Nada Abdul Hamid</a:t>
            </a:r>
            <a:endParaRPr lang="en-US" sz="2800" dirty="0">
              <a:effectLst/>
              <a:latin typeface="Adobe Caslon Pro" panose="0205050205050A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 algn="l" rtl="0">
              <a:lnSpc>
                <a:spcPct val="110000"/>
              </a:lnSpc>
              <a:spcAft>
                <a:spcPts val="600"/>
              </a:spcAft>
              <a:buFont typeface="+mj-lt"/>
              <a:buAutoNum type="arabicPeriod"/>
              <a:tabLst>
                <a:tab pos="2159635" algn="l"/>
              </a:tabLst>
            </a:pPr>
            <a:r>
              <a:rPr lang="en-US" sz="2800" dirty="0">
                <a:solidFill>
                  <a:srgbClr val="000000"/>
                </a:solidFill>
                <a:effectLst/>
                <a:latin typeface="Adobe Caslon Pro" panose="0205050205050A020403" pitchFamily="18" charset="0"/>
                <a:ea typeface="Calibri" panose="020F0502020204030204" pitchFamily="34" charset="0"/>
                <a:cs typeface="Arial" panose="020B0604020202020204" pitchFamily="34" charset="0"/>
              </a:rPr>
              <a:t>Noura Gaber</a:t>
            </a:r>
            <a:endParaRPr lang="en-US" sz="2800" dirty="0">
              <a:effectLst/>
              <a:latin typeface="Adobe Caslon Pro" panose="0205050205050A0204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8324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173</TotalTime>
  <Words>504</Words>
  <Application>Microsoft Office PowerPoint</Application>
  <PresentationFormat>Widescreen</PresentationFormat>
  <Paragraphs>59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Adobe Caslon Pro</vt:lpstr>
      <vt:lpstr>Bodoni Bd BT</vt:lpstr>
      <vt:lpstr>Calibri</vt:lpstr>
      <vt:lpstr>Courier New</vt:lpstr>
      <vt:lpstr>Garamond</vt:lpstr>
      <vt:lpstr>Savon</vt:lpstr>
      <vt:lpstr>Home automation</vt:lpstr>
      <vt:lpstr>Business Case: </vt:lpstr>
      <vt:lpstr>Goal:</vt:lpstr>
      <vt:lpstr>Objectives:</vt:lpstr>
      <vt:lpstr>Deliverable:</vt:lpstr>
      <vt:lpstr>Scope Statement:</vt:lpstr>
      <vt:lpstr>Risk Management:</vt:lpstr>
      <vt:lpstr>Responsibility Matrix:</vt:lpstr>
      <vt:lpstr>Project Network:</vt:lpstr>
      <vt:lpstr>Time-Phased Budget</vt:lpstr>
      <vt:lpstr>PowerPoint Presentation</vt:lpstr>
      <vt:lpstr>Team Members: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mariam tarek</dc:creator>
  <cp:lastModifiedBy>mariam tarek</cp:lastModifiedBy>
  <cp:revision>12</cp:revision>
  <dcterms:created xsi:type="dcterms:W3CDTF">2022-01-02T16:44:37Z</dcterms:created>
  <dcterms:modified xsi:type="dcterms:W3CDTF">2022-01-02T19:37:44Z</dcterms:modified>
</cp:coreProperties>
</file>